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6a6e5c293c46bc" /><Relationship Type="http://schemas.openxmlformats.org/officeDocument/2006/relationships/extended-properties" Target="/docProps/app.xml" Id="Rb5a3c41a47f44ad0" /><Relationship Type="http://schemas.openxmlformats.org/officeDocument/2006/relationships/officeDocument" Target="/ppt/presentation.xml" Id="Rdc2d8c3d6f5141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3b0e3ba3a74f74"/>
  </p:sldMasterIdLst>
  <p:notesMasterIdLst>
    <p:notesMasterId xmlns:r="http://schemas.openxmlformats.org/officeDocument/2006/relationships" r:id="R5ce82174ee09406b"/>
  </p:notesMasterIdLst>
  <p:sldIdLst>
    <p:sldId xmlns:r="http://schemas.openxmlformats.org/officeDocument/2006/relationships" id="256" r:id="Re780b88615404ca5"/>
    <p:sldId xmlns:r="http://schemas.openxmlformats.org/officeDocument/2006/relationships" id="257" r:id="Rd6c1a9c31fbb430a"/>
    <p:sldId xmlns:r="http://schemas.openxmlformats.org/officeDocument/2006/relationships" id="258" r:id="Rf25671cc918146af"/>
    <p:sldId xmlns:r="http://schemas.openxmlformats.org/officeDocument/2006/relationships" id="259" r:id="Rea55d0103be14697"/>
    <p:sldId xmlns:r="http://schemas.openxmlformats.org/officeDocument/2006/relationships" id="260" r:id="R76ce42ff9bbe4411"/>
    <p:sldId xmlns:r="http://schemas.openxmlformats.org/officeDocument/2006/relationships" id="261" r:id="R9674333582fa4c79"/>
    <p:sldId xmlns:r="http://schemas.openxmlformats.org/officeDocument/2006/relationships" id="262" r:id="Raf0c41249cbe4ec2"/>
    <p:sldId xmlns:r="http://schemas.openxmlformats.org/officeDocument/2006/relationships" id="263" r:id="R61d7d5792bcf49a8"/>
    <p:sldId xmlns:r="http://schemas.openxmlformats.org/officeDocument/2006/relationships" id="264" r:id="Rb67741b8eb504004"/>
    <p:sldId xmlns:r="http://schemas.openxmlformats.org/officeDocument/2006/relationships" id="265" r:id="R219d7bc25a0f44aa"/>
    <p:sldId xmlns:r="http://schemas.openxmlformats.org/officeDocument/2006/relationships" id="266" r:id="R949159658f0a4155"/>
    <p:sldId xmlns:r="http://schemas.openxmlformats.org/officeDocument/2006/relationships" id="267" r:id="R77dc7667f3d542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060e5a757e4786" /><Relationship Type="http://schemas.openxmlformats.org/officeDocument/2006/relationships/slideMaster" Target="/ppt/slideMasters/slideMaster1.xml" Id="Re33b0e3ba3a74f74" /><Relationship Type="http://schemas.openxmlformats.org/officeDocument/2006/relationships/notesMaster" Target="/ppt/notesMasters/notesMaster1.xml" Id="R5ce82174ee09406b" /><Relationship Type="http://schemas.openxmlformats.org/officeDocument/2006/relationships/presProps" Target="/ppt/presProps.xml" Id="R1928e8c03b4049a3" /><Relationship Type="http://schemas.openxmlformats.org/officeDocument/2006/relationships/tableStyles" Target="/ppt/tableStyles.xml" Id="Ra2e0ba38a0be4e5d" /><Relationship Type="http://schemas.openxmlformats.org/officeDocument/2006/relationships/slide" Target="/ppt/slides/slide1.xml" Id="Re780b88615404ca5" /><Relationship Type="http://schemas.openxmlformats.org/officeDocument/2006/relationships/slide" Target="/ppt/slides/slide2.xml" Id="Rd6c1a9c31fbb430a" /><Relationship Type="http://schemas.openxmlformats.org/officeDocument/2006/relationships/slide" Target="/ppt/slides/slide3.xml" Id="Rf25671cc918146af" /><Relationship Type="http://schemas.openxmlformats.org/officeDocument/2006/relationships/slide" Target="/ppt/slides/slide4.xml" Id="Rea55d0103be14697" /><Relationship Type="http://schemas.openxmlformats.org/officeDocument/2006/relationships/slide" Target="/ppt/slides/slide5.xml" Id="R76ce42ff9bbe4411" /><Relationship Type="http://schemas.openxmlformats.org/officeDocument/2006/relationships/slide" Target="/ppt/slides/slide6.xml" Id="R9674333582fa4c79" /><Relationship Type="http://schemas.openxmlformats.org/officeDocument/2006/relationships/slide" Target="/ppt/slides/slide7.xml" Id="Raf0c41249cbe4ec2" /><Relationship Type="http://schemas.openxmlformats.org/officeDocument/2006/relationships/slide" Target="/ppt/slides/slide8.xml" Id="R61d7d5792bcf49a8" /><Relationship Type="http://schemas.openxmlformats.org/officeDocument/2006/relationships/slide" Target="/ppt/slides/slide9.xml" Id="Rb67741b8eb504004" /><Relationship Type="http://schemas.openxmlformats.org/officeDocument/2006/relationships/slide" Target="/ppt/slides/slide10.xml" Id="R219d7bc25a0f44aa" /><Relationship Type="http://schemas.openxmlformats.org/officeDocument/2006/relationships/slide" Target="/ppt/slides/slide11.xml" Id="R949159658f0a4155" /><Relationship Type="http://schemas.openxmlformats.org/officeDocument/2006/relationships/slide" Target="/ppt/slides/slide12.xml" Id="R77dc7667f3d542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b55de3f04841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19cf55f6954bf3" /><Relationship Type="http://schemas.openxmlformats.org/officeDocument/2006/relationships/notesMaster" Target="/ppt/notesMasters/notesMaster1.xml" Id="R2f702278076745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1d6669f5b44c17" /><Relationship Type="http://schemas.openxmlformats.org/officeDocument/2006/relationships/notesMaster" Target="/ppt/notesMasters/notesMaster1.xml" Id="R5bfa3c98e3f34b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edd21835894d2e" /><Relationship Type="http://schemas.openxmlformats.org/officeDocument/2006/relationships/notesMaster" Target="/ppt/notesMasters/notesMaster1.xml" Id="R42c286dfd86545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f1d9198ea84304" /><Relationship Type="http://schemas.openxmlformats.org/officeDocument/2006/relationships/notesMaster" Target="/ppt/notesMasters/notesMaster1.xml" Id="Rb0747a87520445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20064fbb624745" /><Relationship Type="http://schemas.openxmlformats.org/officeDocument/2006/relationships/notesMaster" Target="/ppt/notesMasters/notesMaster1.xml" Id="R33af5414282f40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4ef93d5bca4ab1" /><Relationship Type="http://schemas.openxmlformats.org/officeDocument/2006/relationships/notesMaster" Target="/ppt/notesMasters/notesMaster1.xml" Id="Rebb2d1ffbda44c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da6a5571244b5c" /><Relationship Type="http://schemas.openxmlformats.org/officeDocument/2006/relationships/notesMaster" Target="/ppt/notesMasters/notesMaster1.xml" Id="Rf44a664d5f0d4d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815b6cbd924d6e" /><Relationship Type="http://schemas.openxmlformats.org/officeDocument/2006/relationships/notesMaster" Target="/ppt/notesMasters/notesMaster1.xml" Id="R2eff0f1ded3e4e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bee6a14ff54216" /><Relationship Type="http://schemas.openxmlformats.org/officeDocument/2006/relationships/notesMaster" Target="/ppt/notesMasters/notesMaster1.xml" Id="R0a5bace52ebf4c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66763d070e4731" /><Relationship Type="http://schemas.openxmlformats.org/officeDocument/2006/relationships/notesMaster" Target="/ppt/notesMasters/notesMaster1.xml" Id="Racd35a85c1c64c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356a7628034a81" /><Relationship Type="http://schemas.openxmlformats.org/officeDocument/2006/relationships/notesMaster" Target="/ppt/notesMasters/notesMaster1.xml" Id="R0e3069fa932744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c2150e44a54613" /><Relationship Type="http://schemas.openxmlformats.org/officeDocument/2006/relationships/notesMaster" Target="/ppt/notesMasters/notesMaster1.xml" Id="Rfaec0d8471d04d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resource.md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notes: Open with the central promise: CivicPulse helps MCC see which open issues could go quiet before they become overdue.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Problem Understanding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notes: Frame the problem as follow-through. Citizens can report, but officers need a way to see which open cases are at risk of being forgotten.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docs/architecture.md, Risk engine; 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notes: The score uses transparent factors. It is not opaque machine learning, and it produces a recommended action with factor-level explanations.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src/frontend/src/pages/citizen/ReportForm.tsx; 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notes: The demo starts with an ordinary resident journey. Before submission, the app checks for nearby, similar complaints and lets the user follow the existing issue or explicitly submit a separate 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docs/architecture.md, Data flow and Priority/Risk engines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notes: The same intake pipeline routes the complaint, verifies it, assigns priority, and estimates neglect risk. Use the example score to point to the explanation, rather than treating the number as a black box.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src/frontend/src/pages/officer/OfficerQueue.tsx; 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notes: The queue lets officers sort by risk, priority, age, or SLA. On the detail view, they can inspect the exact factors behind the score and choose the next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src/frontend/src/pages/field/FieldTasks.tsx; docs/limitations.md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notes: The field worker interface stores pending actions locally and replays them on reconnect with idempotency keys. Be explicit that conflict resolution and background sync are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docs/architecture.md, Jurisdiction routing; 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notes: A complaint stores the jurisdiction version used at routing time. Publishing a new boundary only changes future routing, so historical assignments remain defensible.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src/frontend/src/pages/public/PublicDashboard.tsx; 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notes: The public dashboard exposes aggregate status and a ward explanation panel. The focus is meaningful accountability, not publishing a raw complaint dump.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src/frontend/src/pages/admin/DemoConsole.tsx; docs/limitations.md; 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notes: The simulation proves the asynchronous processing pattern with the real duplicate, priority and risk engines. It is not a production message queue.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Architecture and Scaling Analysis; docs/architecture.md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notes: Underline the product choices: explainability, versioned jurisdiction snapshots, no silent rejection, and a clear route to scaled infrastructure.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docs/limitations.md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notes: Close with transparency. The demo data, geometry and models are explicitly limited, while the architecture keeps the interface stable as real data and production infrastructure arrive.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b18562b3141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a27ffe5bf1457e" /><Relationship Type="http://schemas.openxmlformats.org/officeDocument/2006/relationships/slideLayout" Target="/ppt/slideLayouts/slideLayout1.xml" Id="R3897a3aec2f843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97a3aec2f843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d5f152d0845fa" /><Relationship Type="http://schemas.openxmlformats.org/officeDocument/2006/relationships/notesSlide" Target="/ppt/notesSlides/notesSlide1.xml" Id="Rfd4946d1962448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b09d0920d4252" /><Relationship Type="http://schemas.openxmlformats.org/officeDocument/2006/relationships/notesSlide" Target="/ppt/notesSlides/notesSlide2.xml" Id="Racdc145bdc9d4e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8876e84e642b3" /><Relationship Type="http://schemas.openxmlformats.org/officeDocument/2006/relationships/notesSlide" Target="/ppt/notesSlides/notesSlide3.xml" Id="R4c079dcf926443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c9fe099c7419b" /><Relationship Type="http://schemas.openxmlformats.org/officeDocument/2006/relationships/notesSlide" Target="/ppt/notesSlides/notesSlide4.xml" Id="Rff32b2ee4c464b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09652a6984224" /><Relationship Type="http://schemas.openxmlformats.org/officeDocument/2006/relationships/notesSlide" Target="/ppt/notesSlides/notesSlide5.xml" Id="R0162956445bb48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fa685585e4bc8" /><Relationship Type="http://schemas.openxmlformats.org/officeDocument/2006/relationships/notesSlide" Target="/ppt/notesSlides/notesSlide6.xml" Id="R3d5bcef1b9dc44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7599261b14366" /><Relationship Type="http://schemas.openxmlformats.org/officeDocument/2006/relationships/notesSlide" Target="/ppt/notesSlides/notesSlide7.xml" Id="R0d9b4b84a14f4e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0910f108a4b61" /><Relationship Type="http://schemas.openxmlformats.org/officeDocument/2006/relationships/notesSlide" Target="/ppt/notesSlides/notesSlide8.xml" Id="R1f230e5a4d4248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702d8ead146df" /><Relationship Type="http://schemas.openxmlformats.org/officeDocument/2006/relationships/notesSlide" Target="/ppt/notesSlides/notesSlide9.xml" Id="R10770f99f16d4c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d1426b9e944ba" /><Relationship Type="http://schemas.openxmlformats.org/officeDocument/2006/relationships/notesSlide" Target="/ppt/notesSlides/notesSlide10.xml" Id="Rd021e403a43c43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0f2eb68e744ec" /><Relationship Type="http://schemas.openxmlformats.org/officeDocument/2006/relationships/notesSlide" Target="/ppt/notesSlides/notesSlide11.xml" Id="R7645bf2af7364e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59e7dc7684ffd" /><Relationship Type="http://schemas.openxmlformats.org/officeDocument/2006/relationships/notesSlide" Target="/ppt/notesSlides/notesSlide12.xml" Id="R2f30be0c896d47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C9B98C-FB08-4BCC-B420-B90A03D5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5217A-3BD1-427D-B501-CDCB9ED1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0"/>
            <a:ext cx="54673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CF62E-D11F-49E4-A350-70BF6770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EE6E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EE6E1"/>
                </a:solidFill>
                <a:latin typeface="Arial"/>
                <a:ea typeface="Arial"/>
                <a:cs typeface="Arial"/>
              </a:rPr>
              <a:t>MYSURU CIVICPULSE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2E00F-ED03-4EDC-9F78-1EFAC499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69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complaint to closure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civic issues are forgotten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30E1C-33F4-41FC-8BE4-F12CC1E5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9E7"/>
                </a:solidFill>
                <a:latin typeface="Arial"/>
                <a:ea typeface="Arial"/>
                <a:cs typeface="Arial"/>
              </a:rPr>
              <a:t>An explainable civic intelligence platform for Mysuru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FA9F6-3845-4EFE-827C-6A329DE9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BBAB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11829-E322-47D9-B278-E9D72C0E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EE6E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EE6E1"/>
                </a:solidFill>
                <a:latin typeface="Arial"/>
                <a:ea typeface="Arial"/>
                <a:cs typeface="Arial"/>
              </a:rPr>
              <a:t>SUB-PROBLEM 2  |  FOLLOW-THROUGH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1D616-BD89-42E8-BDAB-866842F5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DE9E7"/>
                </a:solidFill>
                <a:latin typeface="Arial"/>
                <a:ea typeface="Arial"/>
                <a:cs typeface="Arial"/>
              </a:rPr>
              <a:t>Team ID: &lt;TEAM_ID&gt;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DA2B4-CC4B-439E-8FB5-B4DD8C90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2192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ln xmlns:a="http://schemas.openxmlformats.org/drawingml/2006/main" w="9525">
            <a:solidFill>
              <a:srgbClr val="4E798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FA130-E91A-4897-871D-AD7EEE47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668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47D8E-AC69-48F8-AF46-D895003C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7335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EE6E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EE6E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DCA70-3F01-4BA9-B190-D24895DD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192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ln xmlns:a="http://schemas.openxmlformats.org/drawingml/2006/main" w="9525">
            <a:solidFill>
              <a:srgbClr val="4E798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AC1C5-CD93-426F-8D70-FA092968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4668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65744-92DA-41E3-B381-8C86525C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335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EE6E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EE6E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075FD-BC36-4CCA-8005-0D45C4B4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4795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ln xmlns:a="http://schemas.openxmlformats.org/drawingml/2006/main" w="9525">
            <a:solidFill>
              <a:srgbClr val="4E798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6FAB9-CB25-45AF-90BB-AA5E95D8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12955-9FB4-4A13-89CE-4106CB4C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623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EE6E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EE6E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B24FF3-4E0D-42DA-971B-A9F59524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4795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ln xmlns:a="http://schemas.openxmlformats.org/drawingml/2006/main" w="9525">
            <a:solidFill>
              <a:srgbClr val="4E798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89C241-3267-488D-846D-4F3CC45A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9560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BF450-3241-40FD-9A5A-0E6FD5AD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623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EE6E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EE6E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1A1CE0-2971-4B54-89D1-5744CC4C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767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ln xmlns:a="http://schemas.openxmlformats.org/drawingml/2006/main" w="9525">
            <a:solidFill>
              <a:srgbClr val="D59A2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E9E798-DA27-4B0A-BF5B-5B62662D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243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2AAD27-9753-413C-8207-F99C6168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910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8138E8-6E9A-464B-85B7-53B52151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767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ln xmlns:a="http://schemas.openxmlformats.org/drawingml/2006/main" w="9525">
            <a:solidFill>
              <a:srgbClr val="4E798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C2D3BF-1E63-4878-B40A-71703C48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243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2D0E5A-1038-4986-A820-EF1F8D5C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910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EE6E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EE6E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93101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190AC0-2D80-4F91-A49F-F3818516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MYSURU CIVICPULSE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46AD3-19DB-4D4C-85ED-03353CF2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The follow-through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89348-7546-42E3-965A-163E6367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5E3B6-B1DC-476C-8107-BA5E96BD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70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6B5C1-9275-4729-8574-628E89EF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Complaints rarely vanish at intake. They lose attention while they wait.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D5654-B359-4DDA-8272-A0D8CA81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F1775-963F-4F48-A81B-0ABA4C18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53ED6-6658-4120-9B39-75F2E231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Quiet stagnation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76C67-6BCC-423D-AF02-DE7F3680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An open complaint can age without a clear signal that it needs intervention.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9DED9-A059-4778-9E89-984B0474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0115F-2260-4093-96BC-C2A05D0E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B399B-BC43-4A61-8659-3107F975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Fragmented signals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EAD658-EA3A-4368-8645-68DC16B0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62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Duplicate reports, shifting boundaries and weak verification obscure the real queue.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0BA42-A81D-4814-9E9A-249EF3B5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46D60-036E-4A58-96F5-B474EC5C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B30C2-E900-4D06-B368-72947BDF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Limited public visibility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A217A-39E1-4AA8-801B-0CA49223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14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Residents cannot easily see where service is lagging or what drives the gap.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87CB4F-8F06-4046-832B-810489A0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000500" cy="2476500"/>
          </a:xfrm>
          <a:prstGeom xmlns:a="http://schemas.openxmlformats.org/drawingml/2006/main" prst="roundRect">
            <a:avLst>
              <a:gd name="adj" fmla="val 3077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422739-58F2-44B3-8C63-5E3A1AA8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24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What officers need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6DFC14-CE32-4FE8-B4AA-C0B2FB69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A ranked queue that explains</a:t>
            </a:r>
          </a:p>
          <a:p xmlns:a="http://schemas.openxmlformats.org/drawingml/2006/main">
            <a:pPr algn="l">
              <a:defRPr sz="187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which issues need attention now</a:t>
            </a:r>
          </a:p>
          <a:p xmlns:a="http://schemas.openxmlformats.org/drawingml/2006/main">
            <a:pPr algn="l">
              <a:defRPr sz="187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and why.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BA23C6-6518-4BBA-A057-517FB3BA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81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01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Focus attention before an issue becomes invisible.</a:t>
            </a:r>
          </a:p>
        </p:txBody>
      </p:sp>
    </p:spTree>
    <p:extLst>
      <p:ext uri="{BB962C8B-B14F-4D97-AF65-F5344CB8AC3E}">
        <p14:creationId xmlns:p14="http://schemas.microsoft.com/office/powerpoint/2010/main" val="19012176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7A7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CE6439-9CF7-41E4-ADAC-B0DFD3EE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OUR DIFFERENTIATOR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79B1A-D650-4011-8402-A4C2175D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Predictive neglect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4AF77-DD86-4265-B0B1-7EBEB80B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AD135-3BED-4D93-ACE5-7338925E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70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A2900-69F0-4A2E-9E16-447B3EE9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every open complaint, CivicPulse estimates neglect risk on a 0-100 scale and tells the officer what caused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8766F-CD69-4FBF-A6A4-5DBB0F5C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0289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9525">
            <a:solidFill>
              <a:srgbClr val="4E9D9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524CF-B7A2-4ADF-A16F-29C86B57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2222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4552B-23B7-4FCC-81D2-C48E2A46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E6E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EE6E1"/>
                </a:solidFill>
                <a:latin typeface="Arial"/>
                <a:ea typeface="Arial"/>
                <a:cs typeface="Arial"/>
              </a:rPr>
              <a:t>up to 26 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D343C-0DFA-4A59-88D1-A5227586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30289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9525">
            <a:solidFill>
              <a:srgbClr val="4E9D9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CC349-669E-4B91-AF74-8A068497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9565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2222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Historical delay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FDDF3-773A-4A43-B911-9476A084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528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E6E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EE6E1"/>
                </a:solidFill>
                <a:latin typeface="Arial"/>
                <a:ea typeface="Arial"/>
                <a:cs typeface="Arial"/>
              </a:rPr>
              <a:t>up to 20 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1CE7E-91CC-4177-A867-5625B9DB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30289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9525">
            <a:solidFill>
              <a:srgbClr val="4E9D9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E33BC-F968-464D-A20D-F92444B3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9565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2222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Assignment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33AD9-B65A-4616-B3E0-B0895B6E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528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E6E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EE6E1"/>
                </a:solidFill>
                <a:latin typeface="Arial"/>
                <a:ea typeface="Arial"/>
                <a:cs typeface="Arial"/>
              </a:rPr>
              <a:t>up to 18 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14FBF-CBE8-4AD1-93AA-2D6756F3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30289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9525">
            <a:solidFill>
              <a:srgbClr val="4E9D9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37A82-2FB7-43C1-9F8A-4DAC88EE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2222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 vs SLA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A18BF-E990-4787-A67A-E243EB91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E6E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EE6E1"/>
                </a:solidFill>
                <a:latin typeface="Arial"/>
                <a:ea typeface="Arial"/>
                <a:cs typeface="Arial"/>
              </a:rPr>
              <a:t>up to 14 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11280-F3B1-4766-BB31-65D126CF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48150"/>
            <a:ext cx="30289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9525">
            <a:solidFill>
              <a:srgbClr val="4E9D9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10AF3-5359-4798-9CF6-ACA84D1A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0055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2222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Repeat pressure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B34BE8-7AAF-4CA0-B500-827E4CDC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577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E6E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EE6E1"/>
                </a:solidFill>
                <a:latin typeface="Arial"/>
                <a:ea typeface="Arial"/>
                <a:cs typeface="Arial"/>
              </a:rPr>
              <a:t>up to 12 pts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F68BD0-5326-48BA-9C84-01EEE077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30289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9525">
            <a:solidFill>
              <a:srgbClr val="4E9D9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931F91-86BD-43CC-AE90-03A1EAF4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0055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2222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Safety impact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745D77-468F-4945-AD62-C5F8E792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577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E6E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EE6E1"/>
                </a:solidFill>
                <a:latin typeface="Arial"/>
                <a:ea typeface="Arial"/>
                <a:cs typeface="Arial"/>
              </a:rPr>
              <a:t>up to 10 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364320-08C4-40C3-A440-34AB8B9E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33725"/>
            <a:ext cx="1581150" cy="1828800"/>
          </a:xfrm>
          <a:prstGeom xmlns:a="http://schemas.openxmlformats.org/drawingml/2006/main" prst="roundRect">
            <a:avLst>
              <a:gd name="adj" fmla="val 4819"/>
            </a:avLst>
          </a:prstGeom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C68C74-2070-422A-B22C-D47770E6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47662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WHY?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688890-4DCF-4834-8DE1-8016F539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29050"/>
            <a:ext cx="1181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A score</a:t>
            </a:r>
          </a:p>
          <a:p xmlns:a="http://schemas.openxmlformats.org/drawingml/2006/main">
            <a:pPr algn="ctr">
              <a:defRPr sz="135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without a</a:t>
            </a:r>
          </a:p>
          <a:p xmlns:a="http://schemas.openxmlformats.org/drawingml/2006/main">
            <a:pPr algn="ctr">
              <a:defRPr sz="135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reason is</a:t>
            </a:r>
          </a:p>
          <a:p xmlns:a="http://schemas.openxmlformats.org/drawingml/2006/main">
            <a:pPr algn="ctr">
              <a:defRPr sz="135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not useful.</a:t>
            </a:r>
          </a:p>
        </p:txBody>
      </p:sp>
    </p:spTree>
    <p:extLst>
      <p:ext uri="{BB962C8B-B14F-4D97-AF65-F5344CB8AC3E}">
        <p14:creationId xmlns:p14="http://schemas.microsoft.com/office/powerpoint/2010/main" val="21063242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22221-1684-4D69-BEAF-95CACBF4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MYSURU CIVICPULSE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AC98E-75F5-4F64-B253-7BF89C0E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Live demo: citizen report and duplicate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10208-7644-4356-8137-68268771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776DA-9B9F-4A2C-AF77-3EA06F21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70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DCFDF-15DF-4F43-9D45-F2018EF4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A resident reports a pothole near a school gate.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8DECC-29A9-4314-950B-42785F3A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7C2DE-A85A-4D4C-866D-C4345E4C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92643-8A5D-4554-9523-7A0F0418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Describe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CFCD2-DE9B-4912-BCFC-5F05CC5E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Pothole near the school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CBB7B-1A0F-46DA-A000-230E53B2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052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7A7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92D0B-8BDA-4622-8B62-74BBF88B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0510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B9A21-E1D5-4374-A264-89A0E47F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33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1BF5D-BC25-4894-91A5-F4C39233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956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Locate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079E8-E360-4B44-BDAD-2681E8A0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528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Pin the exact road location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50D22-31CA-41AF-BB98-E8E19745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052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7A7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F0A8F9-14FA-4CA1-97CA-3C33E890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0510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4AFC6-46EF-4B69-8B6B-DDC13AC4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33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94B1C-0231-4CC8-B5B8-43A47905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956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FB76F-EA77-403E-A8F4-06F8B299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Find nearby, similar 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B0A20-1904-4708-87C6-AC2B78A4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052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7A7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14B0A6-3FA0-4AA3-9B0D-6504D710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0510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942E89-8B9C-44B9-A96E-BC2DA5DB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33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A9AA07-F6B2-43DE-81C5-E62B64D6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956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Choose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4B77FB-CC1C-4E74-937D-DC961A10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7528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Follow existing or file separately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FED65B-C723-4329-8C33-679B782E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19700"/>
            <a:ext cx="382905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B501E6-26C6-4ABC-9154-283B80A2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429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Duplicate candidates are surfaced, never silently deleted.</a:t>
            </a:r>
          </a:p>
        </p:txBody>
      </p:sp>
    </p:spTree>
    <p:extLst>
      <p:ext uri="{BB962C8B-B14F-4D97-AF65-F5344CB8AC3E}">
        <p14:creationId xmlns:p14="http://schemas.microsoft.com/office/powerpoint/2010/main" val="7670925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B0B499-BBE4-4B53-AF65-9C80AB10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MYSURU CIVICPULSE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4E323-9DC7-45B9-B585-292478D8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Live demo: routing and scoring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1FDA3-442A-46EB-8966-AFFC7543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01742-4945-4DE8-9325-1AFD84AA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70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685E8-C563-44D5-92D5-F6003724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One complaint produces a complete, inspectable decision trail.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5FDC5-4EE6-415D-8E04-7F43458C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190750" cy="1790700"/>
          </a:xfrm>
          <a:prstGeom xmlns:a="http://schemas.openxmlformats.org/drawingml/2006/main" prst="roundRect">
            <a:avLst>
              <a:gd name="adj" fmla="val 4255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7C27A-4901-4276-930C-4A4C3FB3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7E3C3-A8E3-451B-A828-427DE66D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2F352-9BFB-4F75-AD2E-3B862A61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Ward + authority</a:t>
            </a:r>
          </a:p>
          <a:p xmlns:a="http://schemas.openxmlformats.org/drawingml/2006/main">
            <a:pPr algn="ctr">
              <a:defRPr sz="12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+ boundary 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87960-0D2D-4567-8CA8-B75DBFE8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D70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5B491-04D8-40AC-9A76-A459309A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2250"/>
            <a:ext cx="2190750" cy="1790700"/>
          </a:xfrm>
          <a:prstGeom xmlns:a="http://schemas.openxmlformats.org/drawingml/2006/main" prst="roundRect">
            <a:avLst>
              <a:gd name="adj" fmla="val 4255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4AE36-EB40-4412-B336-AF50F549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225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5A0A4-3E83-49E8-B641-0FB67678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86075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0BD9E-A53B-4C03-9DB7-A362F5B6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909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Plausible / needs review</a:t>
            </a:r>
          </a:p>
          <a:p xmlns:a="http://schemas.openxmlformats.org/drawingml/2006/main">
            <a:pPr algn="ctr">
              <a:defRPr sz="12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with factor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2CC3A-DF97-45E4-9A53-5982D942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671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D707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745F1-83F6-4A50-A151-413875CF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2190750" cy="1790700"/>
          </a:xfrm>
          <a:prstGeom xmlns:a="http://schemas.openxmlformats.org/drawingml/2006/main" prst="roundRect">
            <a:avLst>
              <a:gd name="adj" fmla="val 4255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6ABA4-2F39-411C-B40F-D26FA0D4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958A3-502E-41A8-8DCE-30AAD2F8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86075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F37CD-150B-45B5-81B7-C2A9F150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6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HIGH</a:t>
            </a:r>
          </a:p>
          <a:p xmlns:a="http://schemas.openxmlformats.org/drawingml/2006/main">
            <a:pPr algn="ctr">
              <a:defRPr sz="12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Example: school-adjacent hazard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E79C0-6693-4D25-B84C-6C3A8391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671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D707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89F75-4F4E-4760-9900-7541BAE6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2190750" cy="1790700"/>
          </a:xfrm>
          <a:prstGeom xmlns:a="http://schemas.openxmlformats.org/drawingml/2006/main" prst="roundRect">
            <a:avLst>
              <a:gd name="adj" fmla="val 4255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2CC53-71B9-4EA5-A1F1-CD55EC1E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D869FE-F487-4BBD-9F36-CC343769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886075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7E7DF-498D-426B-91EA-DEF30D17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909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Risk 78</a:t>
            </a:r>
          </a:p>
          <a:p xmlns:a="http://schemas.openxmlformats.org/drawingml/2006/main">
            <a:pPr algn="ctr">
              <a:defRPr sz="12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Why: inactivity + assignment gap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162DD5-4EEF-4F6D-B9D6-563AB08F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Example values shown for the demo. Every score retains factor-level reasoning.</a:t>
            </a:r>
          </a:p>
        </p:txBody>
      </p:sp>
    </p:spTree>
    <p:extLst>
      <p:ext uri="{BB962C8B-B14F-4D97-AF65-F5344CB8AC3E}">
        <p14:creationId xmlns:p14="http://schemas.microsoft.com/office/powerpoint/2010/main" val="11499615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D9C833-D677-4542-8AB3-7E847EF4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MYSURU CIVICPULSE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4F07A-7C5D-424A-ADC6-CAD608DF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Live demo: officer queue and the “why” panel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DEBF0-3CDC-4A46-B1DF-EF4F8CF2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35D33-5C10-4E32-99EF-F125E21A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70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486D0-74A1-4C7F-9022-FF65F1D0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The officer sees the queue sorted by risk, then opens the explanation before acting.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02CAB-E723-4B5A-96D7-AB5991BC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6762750" cy="3009900"/>
          </a:xfrm>
          <a:prstGeom xmlns:a="http://schemas.openxmlformats.org/drawingml/2006/main" prst="roundRect">
            <a:avLst>
              <a:gd name="adj" fmla="val 2532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87878-615C-4188-890C-7B76208F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OFFICER QUEUE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32964-08B8-4878-BC8C-5779A45F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07A"/>
                </a:solidFill>
                <a:latin typeface="Arial"/>
                <a:ea typeface="Arial"/>
                <a:cs typeface="Arial"/>
              </a:rPr>
              <a:t>Complaint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F706D-AD18-4DD4-B6CF-8E51F184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718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07A"/>
                </a:solidFill>
                <a:latin typeface="Arial"/>
                <a:ea typeface="Arial"/>
                <a:cs typeface="Arial"/>
              </a:rPr>
              <a:t>Ward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80586-3BE0-42B7-8006-073B63B4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07A"/>
                </a:solidFill>
                <a:latin typeface="Arial"/>
                <a:ea typeface="Arial"/>
                <a:cs typeface="Arial"/>
              </a:rPr>
              <a:t>Priority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B00EC-E217-452A-A0D3-C0E64619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718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07A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BCF77-E09A-43EB-9A38-540EC602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718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07A"/>
                </a:solidFill>
                <a:latin typeface="Arial"/>
                <a:ea typeface="Arial"/>
                <a:cs typeface="Arial"/>
              </a:rPr>
              <a:t>SLA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1236E-E9D2-4CE0-904B-5F731465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18CA4-429C-4B67-B573-9847552B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CP-1048  Pothole near school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F7FDE-8B1F-474F-A227-ABBF6A71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29B74-8B97-4FF5-AF24-221C3C04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528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6046E-3AE2-4392-8883-038A2BF7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528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78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508C32-FA3C-409F-BA85-CB5A4EF5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528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Breach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08774-77E7-4E9A-8FE5-0399853C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269225-05EF-457C-B49B-51C99186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CP-0974  Overflowing drain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B17999-9F89-4C45-9998-78DA4CB1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05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690F0-4E68-491E-B2FE-6E336C9E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05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20B21-5390-489C-A411-B8CDC7C3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05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74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D48F81-A82D-4532-9BE5-067F1FE8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052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18h left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92CAC6-A93E-4F63-BBD2-74700821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6B03AF-73BA-47B8-9331-5D417836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CP-1113  Streetlight outage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BB7B19-B578-4098-BD82-C756E061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577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610DB3-4C4A-40B2-B435-1028CEDC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577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4709CA-E14E-4BC8-AE76-E922657B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577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61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A71678-37D8-4622-A5EE-65E6E95E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4577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1d left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CFC8EA-05EB-4A7F-AB15-5C39A402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3333750" cy="3009900"/>
          </a:xfrm>
          <a:prstGeom xmlns:a="http://schemas.openxmlformats.org/drawingml/2006/main" prst="roundRect">
            <a:avLst>
              <a:gd name="adj" fmla="val 2532"/>
            </a:avLst>
          </a:prstGeom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BE8D48-6A9D-435B-97FE-03B988FE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WHY RISK 78?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FCFAE8-481E-4347-8270-F2B1E92F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9FA5F6-F376-4460-8973-17354453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956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No activity for 6 days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F55469-E5F4-4711-A457-4365EBCE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528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266822-39DB-4036-A1DF-B0DF206B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05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Still unassigned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D90949-2FC3-4B93-9B60-D7CF2600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62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FAE106-75EE-445E-8F15-73307389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147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Near a school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FBC26F-AB84-47A1-BCEE-F072DF18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719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60D3E9-7CD7-445F-83F0-51516089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24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SLA window is narrowing</a:t>
            </a:r>
          </a:p>
        </p:txBody>
      </p:sp>
    </p:spTree>
    <p:extLst>
      <p:ext uri="{BB962C8B-B14F-4D97-AF65-F5344CB8AC3E}">
        <p14:creationId xmlns:p14="http://schemas.microsoft.com/office/powerpoint/2010/main" val="7427692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1F72B0-3467-42C7-BF53-6E2F3CF5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MYSURU CIVICPULSE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90089-FAC8-48A6-A24F-0611AEA6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Live demo: field worker and offline sync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2BB83-EF2D-4424-83FC-68F13624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6F44F-D3F5-4C55-BFBC-7B5099A7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70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9F490-B9CE-4F10-A17C-7EC76530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Work continues when connectivity does not.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82FE6-1919-4C55-BDA5-3245BD7A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EA304-C83D-46E4-9768-20C399E4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1ADF8-A03E-4887-8EA6-DBC58944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GO OFFLINE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9ABED-02D9-4277-9E63-F0D7B064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Task list stays available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AF178-FE30-48BB-827A-7FEF2F1A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7A7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9A810-D439-4042-8FB1-DC11A6BE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ln xmlns:a="http://schemas.openxmlformats.org/drawingml/2006/main" w="9525">
            <a:solidFill>
              <a:srgbClr val="D59A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662F6-0A0A-431F-ABCF-18F2D159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67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4657D-F674-414A-A1D5-C2FBC760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09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COMPLETE 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BEF50-7A13-456A-A548-79499377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100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5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Action enters local queue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4EB6F-25C1-4854-8226-F835A605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385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7A7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B911D-B287-4953-8861-34554B0C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F78100-7AA9-4082-A196-C4E96D2A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67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26FCE0-F7A8-44E8-A29C-51140773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09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RECONNECT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ED540-8808-4260-8601-B3A37502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Client replays with idempotency key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0619D-5805-4A36-9008-9510F8A7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7A7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430F1-0039-47A9-A36D-A05D3161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F3B546-F709-44EF-A058-A4E6D647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67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EABCE-6586-453A-9C81-6BC177A7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09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SYNC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01144F-33E7-4DBF-BEAF-FE9CBE76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100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5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Server confirms the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0C7FB3-DAD1-47F3-B6EB-F75BF450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MVP scope: first-write-wins. Full conflict resolution and background sync remain roadmap work.</a:t>
            </a:r>
          </a:p>
        </p:txBody>
      </p:sp>
    </p:spTree>
    <p:extLst>
      <p:ext uri="{BB962C8B-B14F-4D97-AF65-F5344CB8AC3E}">
        <p14:creationId xmlns:p14="http://schemas.microsoft.com/office/powerpoint/2010/main" val="1352848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FC0B7-3C02-492F-8442-B3413662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MYSURU CIVICPULSE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3DB5E-4630-430F-B93A-DE281DB2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Live demo: changing jurisdiction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3B6EE-1F60-4545-9357-B5F7787E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B1DB7-B2B2-4A24-8B9D-EA0A1A6C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70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74358-8071-4D18-B581-6124FBD9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A boundary change affects new routing without rewriting complaint history.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84F45-06C7-4F99-A020-C31562DD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3810000" cy="2190750"/>
          </a:xfrm>
          <a:prstGeom xmlns:a="http://schemas.openxmlformats.org/drawingml/2006/main" prst="roundRect">
            <a:avLst>
              <a:gd name="adj" fmla="val 3478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4B766-D4C8-42A1-AA21-9F643494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98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AS FILED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FCB8A-8087-4AD4-A054-27FB4588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7660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9BECD-E51F-4D50-8302-624AB39D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671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Same coordinate</a:t>
            </a:r>
          </a:p>
          <a:p xmlns:a="http://schemas.openxmlformats.org/drawingml/2006/main">
            <a:pPr algn="ctr">
              <a:defRPr sz="120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Ward 42 · version 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5B82E-4D66-4575-B3FD-D5A2D13A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3810000" cy="2190750"/>
          </a:xfrm>
          <a:prstGeom xmlns:a="http://schemas.openxmlformats.org/drawingml/2006/main" prst="roundRect">
            <a:avLst>
              <a:gd name="adj" fmla="val 3478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53924-8A7A-4980-A86F-9A44E9EB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98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9A2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59A23"/>
                </a:solidFill>
                <a:latin typeface="Arial"/>
                <a:ea typeface="Arial"/>
                <a:cs typeface="Arial"/>
              </a:rPr>
              <a:t>IF FILED TODAY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1209E-367B-46FB-924B-BB0AA46E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7660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516B6-3D88-469D-BCE8-0E7AD223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671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Same coordinate</a:t>
            </a:r>
          </a:p>
          <a:p xmlns:a="http://schemas.openxmlformats.org/drawingml/2006/main">
            <a:pPr algn="ctr">
              <a:defRPr sz="120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Current authority · v2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EDDBA-DBFE-4DAA-8C95-C3A05CFC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671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7A7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2AABA-8196-4C88-B848-87B65C4C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3051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publish</a:t>
            </a:r>
          </a:p>
          <a:p xmlns:a="http://schemas.openxmlformats.org/drawingml/2006/main">
            <a:pPr algn="ctr">
              <a:defRPr sz="900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34511-0255-45CF-AB0A-951365EB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781300"/>
            <a:ext cx="1571625" cy="1752600"/>
          </a:xfrm>
          <a:prstGeom xmlns:a="http://schemas.openxmlformats.org/drawingml/2006/main" prst="roundRect">
            <a:avLst>
              <a:gd name="adj" fmla="val 4848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8B68D-63CF-4F8F-8035-69E13CDE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238500"/>
            <a:ext cx="1190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1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History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stays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traceable</a:t>
            </a:r>
          </a:p>
        </p:txBody>
      </p:sp>
    </p:spTree>
    <p:extLst>
      <p:ext uri="{BB962C8B-B14F-4D97-AF65-F5344CB8AC3E}">
        <p14:creationId xmlns:p14="http://schemas.microsoft.com/office/powerpoint/2010/main" val="15949266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9178D-660F-4D71-BBC7-1F6F5DCE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MYSURU CIVICPULSE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79BA4-5453-4EE5-BD1A-2EB20D49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Live demo: public transparency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05D62-FC86-4DFF-A1D2-EAE0F6CC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2B177-42EC-4F65-B4E9-37BB7484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70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4580F-A94F-4826-924F-87D29469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Residents can ask a useful question: why is this ward behind?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EE6CA-93FA-4AE0-9249-93EBC7EA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37335-8663-4686-A3BB-9BC20449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48CEB-8E99-4859-AE59-438F156A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Visible backlog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7F250-7115-4D79-A0DF-7EC7CEB7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2890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C7EF5-0CC5-4129-8201-A3BEC3AE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575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High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49F00-03D7-4535-9C19-F6B8B06C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385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Issues close to neglect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0FFE4-4138-4C8F-AFB2-4238EE21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488CE-BAB9-4728-9EA5-675FD117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Resolution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2969D-9546-4C60-8BF0-A8AD32FB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385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Ward-level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10AA5-A134-4EE1-B474-D3B5FB11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2890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ln xmlns:a="http://schemas.openxmlformats.org/drawingml/2006/main" w="9525">
            <a:solidFill>
              <a:srgbClr val="117A7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33704-F25B-4C74-A27D-C4B069FF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575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Why panel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1639D-34F1-45CB-9372-C989C129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2385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Reason +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DE740-D00B-47D7-B36B-FB4DD118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62450"/>
            <a:ext cx="914400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2E8FD-5743-4E84-952B-E7EF1FE6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91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Ward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825A37-D0B8-4B4B-B4EB-E0FE7310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972050"/>
            <a:ext cx="790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Open complaints, assignment gap and high-risk backlog appear together with a clear action for the responsible team.</a:t>
            </a:r>
          </a:p>
        </p:txBody>
      </p:sp>
    </p:spTree>
    <p:extLst>
      <p:ext uri="{BB962C8B-B14F-4D97-AF65-F5344CB8AC3E}">
        <p14:creationId xmlns:p14="http://schemas.microsoft.com/office/powerpoint/2010/main" val="4832095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994AA7-A308-4811-BD5C-28EBC635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MYSURU CIVICPULSE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F3EAA-2C6C-4CF0-8C1F-A802EF71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Dasara surge 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5C648-F3FA-4538-9072-A1309855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C7A7E-75DB-432F-BD9C-012A1859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70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02685-EA44-4293-A685-621EDE41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A burst of 2,000 or 5,000 synthetic reports runs as an asynchronous batch job.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E0CD1-B475-4A62-8BA9-275B0A05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952625" cy="1381125"/>
          </a:xfrm>
          <a:prstGeom xmlns:a="http://schemas.openxmlformats.org/drawingml/2006/main" prst="roundRect">
            <a:avLst>
              <a:gd name="adj" fmla="val 5517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B89A5-1428-4EAC-87DC-CAC01D70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Incoming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DA40B-3995-4E77-9E87-AD8FBE5D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Synthetic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B56E4-DA94-463D-AB56-B2C4C106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476625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9A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EBB46-83AE-4673-872D-E01A5E46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1952625" cy="1381125"/>
          </a:xfrm>
          <a:prstGeom xmlns:a="http://schemas.openxmlformats.org/drawingml/2006/main" prst="roundRect">
            <a:avLst>
              <a:gd name="adj" fmla="val 5517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09834-0B34-4B7E-BD08-3483C5D5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67050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Queued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C4756-14ED-4470-8FCB-08452564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1472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Batch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38106-E59C-4BBF-9AF7-7B3AAD2D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76625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9A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E74E9-7495-40BA-800A-59B56E09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0350"/>
            <a:ext cx="1952625" cy="1381125"/>
          </a:xfrm>
          <a:prstGeom xmlns:a="http://schemas.openxmlformats.org/drawingml/2006/main" prst="roundRect">
            <a:avLst>
              <a:gd name="adj" fmla="val 5517"/>
            </a:avLst>
          </a:prstGeom>
          <a:ln xmlns:a="http://schemas.openxmlformats.org/drawingml/2006/main" w="9525">
            <a:solidFill>
              <a:srgbClr val="117A7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7E6829-99BA-4615-815D-262372A5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67050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Processed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B3EF4-BE8E-4CA2-BF3F-F669D56F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1472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Real engines run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389D8-8C44-4652-A562-B8156632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9A2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54772-07DF-4464-8B6A-C1F5C903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00350"/>
            <a:ext cx="1952625" cy="1381125"/>
          </a:xfrm>
          <a:prstGeom xmlns:a="http://schemas.openxmlformats.org/drawingml/2006/main" prst="roundRect">
            <a:avLst>
              <a:gd name="adj" fmla="val 5517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965A3C-A40A-4985-BF71-264757EC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67050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Visible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BA4740-64D4-4239-B37E-645C16EF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1472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Polled status updates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1A9BB-E964-4590-8D59-F74C69B4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53000"/>
            <a:ext cx="7696200" cy="514350"/>
          </a:xfrm>
          <a:prstGeom xmlns:a="http://schemas.openxmlformats.org/drawingml/2006/main" prst="roundRect">
            <a:avLst>
              <a:gd name="adj" fmla="val 14815"/>
            </a:avLst>
          </a:prstGeom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C33A14-5122-4DA7-8FF3-CE4A5022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1492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The UI polls progress, so the demo remains responsive while the batch runs.</a:t>
            </a:r>
          </a:p>
        </p:txBody>
      </p:sp>
    </p:spTree>
    <p:extLst>
      <p:ext uri="{BB962C8B-B14F-4D97-AF65-F5344CB8AC3E}">
        <p14:creationId xmlns:p14="http://schemas.microsoft.com/office/powerpoint/2010/main" val="1398109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65511-8B09-4F9F-8AE4-04BF9750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MYSURU CIVICPULSE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AED05-73B3-43CE-93E2-EE243FF1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Engineering highlights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7E5AC-7914-40A2-A446-AAFB7999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A6F56-8841-4C5A-868E-7FE80CD2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70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FAD90-C04D-458D-8193-1630078B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000625" cy="1352550"/>
          </a:xfrm>
          <a:prstGeom xmlns:a="http://schemas.openxmlformats.org/drawingml/2006/main" prst="roundRect">
            <a:avLst>
              <a:gd name="adj" fmla="val 5634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4A7FF-B363-4DF6-815C-E282297A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Explainability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DC3E8-805A-49EC-8D48-B4B34628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0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Every automated decision returns factors and a recommended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1E8A1-D365-4127-8A26-E3A95ECB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09750"/>
            <a:ext cx="5000625" cy="1352550"/>
          </a:xfrm>
          <a:prstGeom xmlns:a="http://schemas.openxmlformats.org/drawingml/2006/main" prst="roundRect">
            <a:avLst>
              <a:gd name="adj" fmla="val 5634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9ADDD-613F-4E0A-BCF6-6A8C07B5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0574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Versioned jurisdiction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64D21-D7A6-4FE7-A424-F1C2883C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955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Historical routing remains immutable when boundaries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6F360-053A-4222-8FE9-37FAEBFA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5000625" cy="1352550"/>
          </a:xfrm>
          <a:prstGeom xmlns:a="http://schemas.openxmlformats.org/drawingml/2006/main" prst="roundRect">
            <a:avLst>
              <a:gd name="adj" fmla="val 5634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9CE1E-B247-48B5-9A50-97EE79B9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8A922-CCF2-45CF-AFE5-771D56CF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Suspicious reports are flagged, never silently rejected.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AD016-FC31-4728-A245-1C3FD41B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62350"/>
            <a:ext cx="5000625" cy="1352550"/>
          </a:xfrm>
          <a:prstGeom xmlns:a="http://schemas.openxmlformats.org/drawingml/2006/main" prst="roundRect">
            <a:avLst>
              <a:gd name="adj" fmla="val 5634"/>
            </a:avLst>
          </a:prstGeom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1402F-45FF-434B-BD62-527BDB39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100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Scaling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A36DC-28FC-4E2C-AF3F-5933AFB5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2481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Pagination, indexed prefilters and aggregate dashboards support the next step.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0E5FB-EDFD-4CE3-90E0-C95E7279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707A"/>
                </a:solidFill>
                <a:latin typeface="Arial"/>
                <a:ea typeface="Arial"/>
                <a:cs typeface="Arial"/>
              </a:rPr>
              <a:t>MVP architecture: React + TypeScript, FastAPI, SQLAlchemy, SQLite by default, deterministic engines.</a:t>
            </a:r>
          </a:p>
        </p:txBody>
      </p:sp>
    </p:spTree>
    <p:extLst>
      <p:ext uri="{BB962C8B-B14F-4D97-AF65-F5344CB8AC3E}">
        <p14:creationId xmlns:p14="http://schemas.microsoft.com/office/powerpoint/2010/main" val="20654804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51F62E-282E-4495-BFC0-38538A07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MYSURU CIVICPULSE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AAC5C-6883-413A-B4B0-4D640AAB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Honest limitations and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A84DC-FA5C-4FE1-BD9F-3B749762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79F12-5AFD-41FC-90FD-9EEB9DFF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0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70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BF21D-145C-494F-BE05-17DF406B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23F"/>
                </a:solidFill>
                <a:latin typeface="Arial"/>
                <a:ea typeface="Arial"/>
                <a:cs typeface="Arial"/>
              </a:rPr>
              <a:t>This is an MVP with production-grade mechanisms and demo-grade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A6901-A399-4054-8491-A680B051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CURRENT LIMIT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230BC-3D99-4708-A810-F054571C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7A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7A72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14F54-7411-43DC-B678-6F944F5B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4D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E6B2F-9C8E-4D0E-B9A9-A3F6A041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CB512-CBA1-408E-9FC3-09F686D5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Synthetic complaints and ward geography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B4312-40EF-4AC3-9E60-0AEDE71D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21E2F-CC46-4D3E-B825-E1007E17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Unvalidated, interpretable risk and priority heuristics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57EF4-B82F-4FA9-BA30-60DCD987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86D3B-9326-4D70-8FED-25F461E3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MVP offline sync with first-write-wins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547FB-C6F5-4384-AB29-D285A1B3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9E0AA-3AA5-465C-8397-C90399AA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In-process surge worker, not a real message queue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4C089-34B0-414D-BA3E-254BC7CE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38A59-4C17-4726-B35E-A40020D6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860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Authoritative MCC / Survey of India GIS boundaries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DE2648-D6C7-4456-ADA7-70DC3FE1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FDFBB-CE85-4015-8053-C709C99C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Calibrate scores on real resolution outcomes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A618BA-CB56-49FF-A1EC-6045D031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EE18C4-2BCC-4E32-AE6C-D1691E64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433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Offline-first PWA with background sync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8CCF6-EE48-45E7-A826-D7AB5600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0C7EA3-2780-47F6-BAA9-68E75F6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720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323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3F"/>
                </a:solidFill>
                <a:latin typeface="Arial"/>
                <a:ea typeface="Arial"/>
                <a:cs typeface="Arial"/>
              </a:rPr>
              <a:t>SQS or Kafka ingestion, worker pool, PostGIS and object storage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E4461D-72F0-44E9-80B4-6B14B5B3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76DDD0-F8D6-4E14-A02A-AD123FA7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9775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interfaces and explainability contract stay stable as data and infrastructure mature.</a:t>
            </a:r>
          </a:p>
        </p:txBody>
      </p:sp>
    </p:spTree>
    <p:extLst>
      <p:ext uri="{BB962C8B-B14F-4D97-AF65-F5344CB8AC3E}">
        <p14:creationId xmlns:p14="http://schemas.microsoft.com/office/powerpoint/2010/main" val="2120361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2026-09-19T18:13:33.4710000Z</dcterms:created>
  <dcterms:modified xsi:type="dcterms:W3CDTF">2026-09-19T18:13:33.4710000Z</dcterms:modified>
</coreProperties>
</file>